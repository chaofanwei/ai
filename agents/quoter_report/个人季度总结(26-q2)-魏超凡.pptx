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353" r:id="rId8"/>
    <p:sldId id="351" r:id="rId9"/>
    <p:sldId id="308" r:id="rId10"/>
    <p:sldId id="309" r:id="rId11"/>
    <p:sldId id="352" r:id="rId12"/>
    <p:sldId id="285" r:id="rId13"/>
    <p:sldId id="262" r:id="rId14"/>
    <p:sldId id="264" r:id="rId15"/>
    <p:sldId id="342" r:id="rId16"/>
    <p:sldId id="354" r:id="rId17"/>
    <p:sldId id="355" r:id="rId18"/>
    <p:sldId id="356" r:id="rId19"/>
    <p:sldId id="357" r:id="rId20"/>
    <p:sldId id="358" r:id="rId21"/>
    <p:sldId id="266" r:id="rId22"/>
    <p:sldId id="267" r:id="rId23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n" initials="f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8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50000"/>
              </a:lnSpc>
              <a:defRPr sz="1200" b="0" i="0" u="none" strike="noStrike">
                <a:solidFill>
                  <a:srgbClr val="A6A6A6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50000"/>
              </a:lnSpc>
              <a:defRPr sz="1200" b="0" i="0" u="none" strike="noStrike">
                <a:solidFill>
                  <a:srgbClr val="A6A6A6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69" y="0"/>
            <a:ext cx="9141862" cy="5143500"/>
          </a:xfrm>
          <a:prstGeom prst="rect">
            <a:avLst/>
          </a:prstGeom>
          <a:ln w="9525">
            <a:noFill/>
            <a:prstDash val="solid"/>
          </a:ln>
        </p:spPr>
      </p:pic>
      <p:sp>
        <p:nvSpPr>
          <p:cNvPr id="3" name="AutoShape 3"/>
          <p:cNvSpPr/>
          <p:nvPr>
            <p:ph type="body" sz="quarter" idx="1" hasCustomPrompt="1"/>
          </p:nvPr>
        </p:nvSpPr>
        <p:spPr>
          <a:xfrm>
            <a:off x="251520" y="1491630"/>
            <a:ext cx="6408712" cy="603749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3700" b="1" i="0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750" b="1" i="0" u="none" strike="noStrike">
                <a:solidFill>
                  <a:srgbClr val="000000"/>
                </a:solidFill>
                <a:latin typeface="微软雅黑"/>
              </a:rPr>
              <a:t>示意主标题文字（38号粗字）</a:t>
            </a:r>
            <a:endParaRPr lang="en-US" sz="3750" b="1" i="0" u="none" strike="noStrike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4" name="AutoShape 4"/>
          <p:cNvSpPr/>
          <p:nvPr>
            <p:ph type="body" sz="quarter" idx="2" hasCustomPrompt="1"/>
          </p:nvPr>
        </p:nvSpPr>
        <p:spPr>
          <a:xfrm>
            <a:off x="251520" y="2291916"/>
            <a:ext cx="4824536" cy="535867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0" i="0" u="none" strike="noStrike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775" b="0" i="0" u="none" strike="noStrike">
                <a:solidFill>
                  <a:srgbClr val="404040"/>
                </a:solidFill>
                <a:latin typeface="微软雅黑"/>
              </a:rPr>
              <a:t>示意副标题文字（28号细字）</a:t>
            </a:r>
            <a:endParaRPr lang="en-US" sz="2775" b="0" i="0" u="none" strike="noStrike">
              <a:solidFill>
                <a:srgbClr val="404040"/>
              </a:solidFill>
              <a:latin typeface="微软雅黑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69" y="0"/>
            <a:ext cx="9141862" cy="5143500"/>
          </a:xfrm>
          <a:prstGeom prst="rect">
            <a:avLst/>
          </a:prstGeom>
          <a:ln w="9525">
            <a:noFill/>
            <a:prstDash val="solid"/>
          </a:ln>
        </p:spPr>
      </p:pic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251520" y="1491630"/>
            <a:ext cx="6552728" cy="603749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3700" b="1" i="0" u="none" strike="noStrike">
                <a:solidFill>
                  <a:srgbClr val="FFFFFF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750" b="1" i="0" u="none" strike="noStrike">
                <a:solidFill>
                  <a:srgbClr val="FFFFFF"/>
                </a:solidFill>
                <a:latin typeface="微软雅黑"/>
              </a:rPr>
              <a:t>示意主标题文字（38号粗字）</a:t>
            </a:r>
            <a:endParaRPr lang="en-US" sz="3750" b="1" i="0" u="none" strike="noStrike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251520" y="2291916"/>
            <a:ext cx="4968552" cy="535867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0" i="0" u="none" strike="noStrike">
                <a:solidFill>
                  <a:srgbClr val="FFFFFF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775" b="0" i="0" u="none" strike="noStrike">
                <a:solidFill>
                  <a:srgbClr val="FFFFFF"/>
                </a:solidFill>
                <a:latin typeface="微软雅黑"/>
              </a:rPr>
              <a:t>示意副标题文字（28号细字）</a:t>
            </a:r>
            <a:endParaRPr lang="en-US" sz="2775" b="0" i="0" u="none" strike="noStrike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xfrm>
            <a:off x="323528" y="205980"/>
            <a:ext cx="8424936" cy="493563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775" b="1" i="0" u="none" strike="noStrike">
                <a:solidFill>
                  <a:srgbClr val="262626"/>
                </a:solidFill>
                <a:latin typeface="微软雅黑"/>
              </a:rPr>
              <a:t>内页标题微软雅黑28号字</a:t>
            </a:r>
            <a:endParaRPr lang="en-US" sz="2775" b="1" i="0" u="none" strike="noStrike">
              <a:solidFill>
                <a:srgbClr val="262626"/>
              </a:solidFill>
              <a:latin typeface="微软雅黑"/>
            </a:endParaRPr>
          </a:p>
        </p:txBody>
      </p:sp>
      <p:sp>
        <p:nvSpPr>
          <p:cNvPr id="3" name="AutoShape 3"/>
          <p:cNvSpPr/>
          <p:nvPr>
            <p:ph type="body" sz="quarter" idx="6" hasCustomPrompt="1"/>
          </p:nvPr>
        </p:nvSpPr>
        <p:spPr>
          <a:xfrm>
            <a:off x="323528" y="915566"/>
            <a:ext cx="8424936" cy="4032448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marL="0" lvl="0" indent="304800" algn="l">
              <a:lnSpc>
                <a:spcPct val="100000"/>
              </a:lnSpc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/>
              </a:rPr>
              <a:t>正文-微软雅黑24号字</a:t>
            </a:r>
            <a:endParaRPr lang="en-US" sz="2400" b="0" i="0" u="none" strike="noStrike">
              <a:solidFill>
                <a:srgbClr val="404040"/>
              </a:solidFill>
              <a:latin typeface="微软雅黑"/>
            </a:endParaRPr>
          </a:p>
          <a:p>
            <a:pPr marL="269875" lvl="1" indent="276225" algn="l">
              <a:lnSpc>
                <a:spcPct val="100000"/>
              </a:lnSpc>
              <a:buClr>
                <a:srgbClr val="404040"/>
              </a:buClr>
              <a:buChar char="•"/>
            </a:pPr>
            <a:r>
              <a:rPr lang="en-US" sz="2175" b="0" i="0" u="none" strike="noStrike">
                <a:solidFill>
                  <a:srgbClr val="404040"/>
                </a:solidFill>
                <a:latin typeface="微软雅黑"/>
              </a:rPr>
              <a:t>第二级</a:t>
            </a:r>
            <a:endParaRPr lang="en-US" sz="2175" b="0" i="0" u="none" strike="noStrike">
              <a:solidFill>
                <a:srgbClr val="404040"/>
              </a:solidFill>
              <a:latin typeface="微软雅黑"/>
            </a:endParaRPr>
          </a:p>
          <a:p>
            <a:pPr marL="539750" lvl="2" indent="247650" algn="l">
              <a:lnSpc>
                <a:spcPct val="100000"/>
              </a:lnSpc>
              <a:buClr>
                <a:srgbClr val="404040"/>
              </a:buClr>
              <a:buChar char="•"/>
            </a:pPr>
            <a:r>
              <a:rPr lang="en-US" sz="1950" b="0" i="0" u="none" strike="noStrike">
                <a:solidFill>
                  <a:srgbClr val="404040"/>
                </a:solidFill>
                <a:latin typeface="微软雅黑"/>
              </a:rPr>
              <a:t>第三级</a:t>
            </a:r>
            <a:endParaRPr lang="en-US" sz="1950" b="0" i="0" u="none" strike="noStrike">
              <a:solidFill>
                <a:srgbClr val="404040"/>
              </a:solidFill>
              <a:latin typeface="微软雅黑"/>
            </a:endParaRPr>
          </a:p>
          <a:p>
            <a:pPr marL="810260" lvl="3" indent="228600" algn="l">
              <a:lnSpc>
                <a:spcPct val="10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微软雅黑"/>
              </a:rPr>
              <a:t>第四级</a:t>
            </a:r>
            <a:endParaRPr lang="en-US" sz="1800" b="0" i="0" u="none" strike="noStrike">
              <a:solidFill>
                <a:srgbClr val="404040"/>
              </a:solidFill>
              <a:latin typeface="微软雅黑"/>
            </a:endParaRPr>
          </a:p>
          <a:p>
            <a:pPr marL="1080135" lvl="4" indent="200025" algn="l">
              <a:lnSpc>
                <a:spcPct val="100000"/>
              </a:lnSpc>
              <a:buClr>
                <a:srgbClr val="404040"/>
              </a:buClr>
              <a:buChar char="•"/>
            </a:pPr>
            <a:r>
              <a:rPr lang="en-US" sz="1575" b="0" i="0" u="none" strike="noStrike">
                <a:solidFill>
                  <a:srgbClr val="404040"/>
                </a:solidFill>
                <a:latin typeface="微软雅黑"/>
              </a:rPr>
              <a:t>第五级</a:t>
            </a:r>
            <a:endParaRPr lang="en-US" sz="1575" b="0" i="0" u="none" strike="noStrike">
              <a:solidFill>
                <a:srgbClr val="404040"/>
              </a:solidFill>
              <a:latin typeface="微软雅黑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84669" t="86399" r="3514" b="5200"/>
          <a:stretch>
            <a:fillRect/>
          </a:stretch>
        </p:blipFill>
        <p:spPr>
          <a:xfrm>
            <a:off x="7740352" y="4443958"/>
            <a:ext cx="1080120" cy="432048"/>
          </a:xfrm>
          <a:prstGeom prst="rect">
            <a:avLst/>
          </a:prstGeom>
          <a:ln w="9525">
            <a:noFill/>
            <a:prstDash val="solid"/>
          </a:ln>
        </p:spPr>
      </p:pic>
      <p:cxnSp>
        <p:nvCxnSpPr>
          <p:cNvPr id="5" name="Connector 5"/>
          <p:cNvCxnSpPr/>
          <p:nvPr/>
        </p:nvCxnSpPr>
        <p:spPr>
          <a:xfrm>
            <a:off x="323528" y="807554"/>
            <a:ext cx="8424936" cy="0"/>
          </a:xfrm>
          <a:prstGeom prst="line">
            <a:avLst/>
          </a:prstGeom>
          <a:noFill/>
          <a:ln w="28575">
            <a:solidFill>
              <a:srgbClr val="797979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内容">
    <p:bg>
      <p:bgPr>
        <a:solidFill>
          <a:srgbClr val="40404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" hasCustomPrompt="1"/>
          </p:nvPr>
        </p:nvSpPr>
        <p:spPr>
          <a:xfrm>
            <a:off x="309259" y="205980"/>
            <a:ext cx="8424936" cy="493563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FFFFFF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775" b="1" i="0" u="none" strike="noStrike">
                <a:solidFill>
                  <a:srgbClr val="FFFFFF"/>
                </a:solidFill>
                <a:latin typeface="微软雅黑"/>
              </a:rPr>
              <a:t>内页标题微软雅黑28号字</a:t>
            </a:r>
            <a:endParaRPr lang="en-US" sz="2775" b="1" i="0" u="none" strike="noStrike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" name="AutoShape 3"/>
          <p:cNvSpPr/>
          <p:nvPr>
            <p:ph type="body" sz="quarter" idx="8" hasCustomPrompt="1"/>
          </p:nvPr>
        </p:nvSpPr>
        <p:spPr>
          <a:xfrm>
            <a:off x="309259" y="915566"/>
            <a:ext cx="8424936" cy="4032448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>
                <a:solidFill>
                  <a:srgbClr val="FFFFFF">
                    <a:alpha val="100000"/>
                  </a:srgbClr>
                </a:solidFill>
                <a:latin typeface="微软雅黑"/>
              </a:defRPr>
            </a:lvl1pPr>
          </a:lstStyle>
          <a:p>
            <a:pPr marL="0" lvl="0" indent="304800" algn="l">
              <a:lnSpc>
                <a:spcPct val="100000"/>
              </a:lnSpc>
              <a:buClr>
                <a:srgbClr val="FFFFFF"/>
              </a:buClr>
              <a:buChar char="•"/>
            </a:pPr>
            <a:r>
              <a:rPr lang="en-US" sz="2400" b="0" i="0" u="none" strike="noStrike">
                <a:solidFill>
                  <a:srgbClr val="FFFFFF"/>
                </a:solidFill>
                <a:latin typeface="微软雅黑"/>
              </a:rPr>
              <a:t>正文-微软雅黑24号字</a:t>
            </a:r>
            <a:endParaRPr lang="en-US" sz="2400" b="0" i="0" u="none" strike="noStrike">
              <a:solidFill>
                <a:srgbClr val="FFFFFF"/>
              </a:solidFill>
              <a:latin typeface="微软雅黑"/>
            </a:endParaRPr>
          </a:p>
          <a:p>
            <a:pPr marL="269875" lvl="1" indent="276225" algn="l">
              <a:lnSpc>
                <a:spcPct val="100000"/>
              </a:lnSpc>
              <a:buClr>
                <a:srgbClr val="FFFFFF"/>
              </a:buClr>
              <a:buChar char="•"/>
            </a:pPr>
            <a:r>
              <a:rPr lang="en-US" sz="2175" b="0" i="0" u="none" strike="noStrike">
                <a:solidFill>
                  <a:srgbClr val="FFFFFF"/>
                </a:solidFill>
                <a:latin typeface="微软雅黑"/>
              </a:rPr>
              <a:t>第二级</a:t>
            </a:r>
            <a:endParaRPr lang="en-US" sz="2175" b="0" i="0" u="none" strike="noStrike">
              <a:solidFill>
                <a:srgbClr val="FFFFFF"/>
              </a:solidFill>
              <a:latin typeface="微软雅黑"/>
            </a:endParaRPr>
          </a:p>
          <a:p>
            <a:pPr marL="539750" lvl="2" indent="247650" algn="l">
              <a:lnSpc>
                <a:spcPct val="100000"/>
              </a:lnSpc>
              <a:buClr>
                <a:srgbClr val="FFFFFF"/>
              </a:buClr>
              <a:buChar char="•"/>
            </a:pPr>
            <a:r>
              <a:rPr lang="en-US" sz="1950" b="0" i="0" u="none" strike="noStrike">
                <a:solidFill>
                  <a:srgbClr val="FFFFFF"/>
                </a:solidFill>
                <a:latin typeface="微软雅黑"/>
              </a:rPr>
              <a:t>第三级</a:t>
            </a:r>
            <a:endParaRPr lang="en-US" sz="1950" b="0" i="0" u="none" strike="noStrike">
              <a:solidFill>
                <a:srgbClr val="FFFFFF"/>
              </a:solidFill>
              <a:latin typeface="微软雅黑"/>
            </a:endParaRPr>
          </a:p>
          <a:p>
            <a:pPr marL="810260" lvl="3" indent="228600" algn="l">
              <a:lnSpc>
                <a:spcPct val="100000"/>
              </a:lnSpc>
              <a:buClr>
                <a:srgbClr val="FFFFFF"/>
              </a:buClr>
              <a:buChar char="•"/>
            </a:pPr>
            <a:r>
              <a:rPr lang="en-US" sz="1800" b="0" i="0" u="none" strike="noStrike">
                <a:solidFill>
                  <a:srgbClr val="FFFFFF"/>
                </a:solidFill>
                <a:latin typeface="微软雅黑"/>
              </a:rPr>
              <a:t>第四级</a:t>
            </a:r>
            <a:endParaRPr lang="en-US" sz="1800" b="0" i="0" u="none" strike="noStrike">
              <a:solidFill>
                <a:srgbClr val="FFFFFF"/>
              </a:solidFill>
              <a:latin typeface="微软雅黑"/>
            </a:endParaRPr>
          </a:p>
          <a:p>
            <a:pPr marL="1080135" lvl="4" indent="200025" algn="l">
              <a:lnSpc>
                <a:spcPct val="100000"/>
              </a:lnSpc>
              <a:buClr>
                <a:srgbClr val="FFFFFF"/>
              </a:buClr>
              <a:buChar char="•"/>
            </a:pPr>
            <a:r>
              <a:rPr lang="en-US" sz="1575" b="0" i="0" u="none" strike="noStrike">
                <a:solidFill>
                  <a:srgbClr val="FFFFFF"/>
                </a:solidFill>
                <a:latin typeface="微软雅黑"/>
              </a:rPr>
              <a:t>第五级</a:t>
            </a:r>
            <a:endParaRPr lang="en-US" sz="1575" b="0" i="0" u="none" strike="noStrike">
              <a:solidFill>
                <a:srgbClr val="FFFFFF"/>
              </a:solidFill>
              <a:latin typeface="微软雅黑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85445" t="86399" r="4314" b="5200"/>
          <a:stretch>
            <a:fillRect/>
          </a:stretch>
        </p:blipFill>
        <p:spPr>
          <a:xfrm>
            <a:off x="7812359" y="4443958"/>
            <a:ext cx="936105" cy="432048"/>
          </a:xfrm>
          <a:prstGeom prst="rect">
            <a:avLst/>
          </a:prstGeom>
          <a:ln w="9525">
            <a:noFill/>
            <a:prstDash val="solid"/>
          </a:ln>
        </p:spPr>
      </p:pic>
      <p:cxnSp>
        <p:nvCxnSpPr>
          <p:cNvPr id="5" name="Connector 5"/>
          <p:cNvCxnSpPr/>
          <p:nvPr/>
        </p:nvCxnSpPr>
        <p:spPr>
          <a:xfrm>
            <a:off x="323528" y="807554"/>
            <a:ext cx="8424936" cy="0"/>
          </a:xfrm>
          <a:prstGeom prst="line">
            <a:avLst/>
          </a:prstGeom>
          <a:noFill/>
          <a:ln w="28575">
            <a:solidFill>
              <a:srgbClr val="797979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1862" cy="5143500"/>
          </a:xfrm>
          <a:prstGeom prst="rect">
            <a:avLst/>
          </a:prstGeom>
          <a:ln w="9525">
            <a:noFill/>
            <a:prstDash val="solid"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1862" cy="5143500"/>
          </a:xfrm>
          <a:prstGeom prst="rect">
            <a:avLst/>
          </a:prstGeom>
          <a:ln w="9525">
            <a:noFill/>
            <a:prstDash val="solid"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image" Target="../media/image1.png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1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2571750"/>
            <a:ext cx="2857500" cy="17145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571750"/>
            <a:ext cx="2857500" cy="17145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jpe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6.xml"/><Relationship Id="rId6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9.jpeg"/><Relationship Id="rId3" Type="http://schemas.openxmlformats.org/officeDocument/2006/relationships/image" Target="../media/image20.jpeg"/><Relationship Id="rId4" Type="http://schemas.openxmlformats.org/officeDocument/2006/relationships/image" Target="../media/image21.jpeg"/><Relationship Id="rId5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jpeg"/><Relationship Id="rId3" Type="http://schemas.openxmlformats.org/officeDocument/2006/relationships/image" Target="../media/image24.jpeg"/><Relationship Id="rId4" Type="http://schemas.openxmlformats.org/officeDocument/2006/relationships/image" Target="../media/image25.jpeg"/><Relationship Id="rId5" Type="http://schemas.openxmlformats.org/officeDocument/2006/relationships/image" Target="../media/image26.jpeg"/><Relationship Id="rId6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image" Target="../media/image30.jpeg"/><Relationship Id="rId5" Type="http://schemas.openxmlformats.org/officeDocument/2006/relationships/image" Target="../media/image31.jpeg"/><Relationship Id="rId6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3700" b="1" i="0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750" b="1" i="0" u="none" strike="noStrike">
                <a:solidFill>
                  <a:srgbClr val="000000"/>
                </a:solidFill>
                <a:latin typeface="微软雅黑"/>
              </a:rPr>
              <a:t>云服务-应用云团队</a:t>
            </a:r>
            <a:endParaRPr lang="en-US" sz="3750" b="1" i="0" u="none" strike="noStrike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3" name="AutoShape 3"/>
          <p:cNvSpPr/>
          <p:nvPr>
            <p:ph type="body" sz="quarter" idx="2" hasCustomPrompt="1"/>
          </p:nvPr>
        </p:nvSpPr>
        <p:spPr>
          <a:xfrm>
            <a:off x="251520" y="2291916"/>
            <a:ext cx="5256584" cy="535867"/>
          </a:xfrm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0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775" b="0" i="0" u="none" strike="noStrike">
                <a:solidFill>
                  <a:srgbClr val="0D0D0D"/>
                </a:solidFill>
                <a:latin typeface="微软雅黑"/>
              </a:rPr>
              <a:t>202</a:t>
            </a:r>
            <a:r>
              <a:rPr lang="x-none" altLang="en-US" sz="2775" b="0" i="0" u="none" strike="noStrike">
                <a:solidFill>
                  <a:srgbClr val="0D0D0D"/>
                </a:solidFill>
                <a:latin typeface="微软雅黑"/>
              </a:rPr>
              <a:t>6</a:t>
            </a:r>
            <a:r>
              <a:rPr lang="en-US" sz="2775" b="0" i="0" u="none" strike="noStrike">
                <a:solidFill>
                  <a:srgbClr val="0D0D0D"/>
                </a:solidFill>
                <a:latin typeface="微软雅黑"/>
              </a:rPr>
              <a:t>Q</a:t>
            </a:r>
            <a:r>
              <a:rPr lang="x-none" altLang="en-US" sz="2775" b="0" i="0" u="none" strike="noStrike">
                <a:solidFill>
                  <a:srgbClr val="0D0D0D"/>
                </a:solidFill>
                <a:latin typeface="微软雅黑"/>
              </a:rPr>
              <a:t>2</a:t>
            </a:r>
            <a:r>
              <a:rPr lang="en-US" sz="2775" b="0" i="0" u="none" strike="noStrike">
                <a:solidFill>
                  <a:srgbClr val="0D0D0D"/>
                </a:solidFill>
                <a:latin typeface="微软雅黑"/>
              </a:rPr>
              <a:t>季度总结- 魏超凡</a:t>
            </a:r>
            <a:endParaRPr lang="en-US" sz="2775" b="0" i="0" u="none" strike="noStrike">
              <a:solidFill>
                <a:srgbClr val="0D0D0D"/>
              </a:solidFill>
              <a:latin typeface="微软雅黑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3528" y="898195"/>
            <a:ext cx="8496944" cy="235331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95250" tIns="47625" rIns="95250" bIns="47625" rtlCol="0" anchor="t">
            <a:no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350" b="0" i="0" u="none" strike="noStrike">
                <a:solidFill>
                  <a:srgbClr val="000000"/>
                </a:solidFill>
                <a:latin typeface="微软雅黑"/>
              </a:rPr>
              <a:t>个人工作职责及在团队中的位置</a:t>
            </a:r>
            <a:endParaRPr lang="en-US" sz="1100"/>
          </a:p>
          <a:p>
            <a:pPr marL="0" lvl="0" indent="17145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1350" b="0" i="0" u="none" strike="noStrike">
                <a:solidFill>
                  <a:srgbClr val="000000"/>
                </a:solidFill>
                <a:latin typeface="微软雅黑"/>
              </a:rPr>
              <a:t>负责vrs服务整体可用性保障（重点是点播和直播前端）&amp;重点需求推进。</a:t>
            </a:r>
            <a:endParaRPr lang="en-US" sz="1350" b="0" i="0" u="none" strike="noStrike">
              <a:solidFill>
                <a:srgbClr val="000000"/>
              </a:solidFill>
              <a:latin typeface="微软雅黑"/>
            </a:endParaRPr>
          </a:p>
          <a:p>
            <a:pPr indent="0" algn="l">
              <a:lnSpc>
                <a:spcPct val="150000"/>
              </a:lnSpc>
            </a:pPr>
          </a:p>
          <a:p>
            <a:pPr indent="0" algn="l">
              <a:lnSpc>
                <a:spcPct val="150000"/>
              </a:lnSpc>
            </a:pPr>
            <a:r>
              <a:rPr lang="en-US" sz="1350" b="0" i="0" u="none" strike="noStrike">
                <a:solidFill>
                  <a:srgbClr val="000000"/>
                </a:solidFill>
                <a:latin typeface="微软雅黑"/>
              </a:rPr>
              <a:t>个人工作主要目标</a:t>
            </a:r>
            <a:endParaRPr lang="en-US" sz="1350" b="0" i="0" u="none" strike="noStrike">
              <a:solidFill>
                <a:srgbClr val="000000"/>
              </a:solidFill>
              <a:latin typeface="微软雅黑"/>
            </a:endParaRPr>
          </a:p>
          <a:p>
            <a:pPr marL="0" lvl="0" indent="17145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1350" b="0" i="0" u="none" strike="noStrike">
                <a:solidFill>
                  <a:srgbClr val="000000"/>
                </a:solidFill>
                <a:latin typeface="微软雅黑"/>
              </a:rPr>
              <a:t>sre运维能力提升，提升运维效率</a:t>
            </a:r>
            <a:endParaRPr lang="en-US" sz="1350" b="0" i="0" u="none" strike="noStrike">
              <a:solidFill>
                <a:srgbClr val="000000"/>
              </a:solidFill>
              <a:latin typeface="微软雅黑"/>
            </a:endParaRPr>
          </a:p>
          <a:p>
            <a:pPr marL="0" lvl="0" indent="17145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1350" b="0" i="0" u="none" strike="noStrike">
                <a:solidFill>
                  <a:srgbClr val="000000"/>
                </a:solidFill>
                <a:latin typeface="微软雅黑"/>
              </a:rPr>
              <a:t>重点播放需求支持</a:t>
            </a:r>
            <a:endParaRPr lang="en-US" sz="1350" b="0" i="0" u="none" strike="noStrike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3" name="AutoShape 3"/>
          <p:cNvSpPr/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775" b="1" i="0" u="none" strike="noStrike">
                <a:solidFill>
                  <a:srgbClr val="262626"/>
                </a:solidFill>
                <a:latin typeface="微软雅黑"/>
              </a:rPr>
              <a:t>工作职责</a:t>
            </a:r>
            <a:endParaRPr lang="en-US" sz="2775" b="1" i="0" u="none" strike="noStrike">
              <a:solidFill>
                <a:srgbClr val="262626"/>
              </a:solidFill>
              <a:latin typeface="微软雅黑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775" b="1" i="0" u="none" strike="noStrike">
                <a:solidFill>
                  <a:srgbClr val="0D0D0D"/>
                </a:solidFill>
                <a:latin typeface="微软雅黑"/>
              </a:rPr>
              <a:t>本季度工作贡献</a:t>
            </a:r>
            <a:endParaRPr lang="en-US" sz="2775" b="1" i="0" u="none" strike="noStrike">
              <a:solidFill>
                <a:srgbClr val="0D0D0D"/>
              </a:solidFill>
              <a:latin typeface="微软雅黑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51460" y="832485"/>
          <a:ext cx="8580755" cy="400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08860"/>
                <a:gridCol w="6271895"/>
              </a:tblGrid>
              <a:tr h="300990"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微软雅黑"/>
                        </a:rPr>
                        <a:t>项目/工作</a:t>
                      </a:r>
                      <a:endParaRPr lang="en-US" sz="1100"/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微软雅黑"/>
                        </a:rPr>
                        <a:t>主要业绩贡献</a:t>
                      </a:r>
                      <a:endParaRPr lang="en-US" sz="1100"/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</a:tr>
              <a:tr h="1837690">
                <a:tc>
                  <a:txBody>
                    <a:bodyPr wrap="square" rtlCol="0">
                      <a:spAutoFit/>
                    </a:bodyPr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200"/>
                        </a:spcAft>
                        <a:defRPr/>
                      </a:pPr>
                      <a:r>
                        <a:rPr sz="1350" b="1">
                          <a:solidFill>
                            <a:srgbClr val="1F4E79"/>
                          </a:solidFill>
                          <a:latin typeface="微软雅黑"/>
                        </a:rPr>
                        <a:t>一、国际站直点播架构改造与升级</a:t>
                      </a:r>
                      <a:endParaRPr lang="en-US" sz="1350" b="0" i="0" u="none" strike="noStrike">
                        <a:solidFill>
                          <a:srgbClr val="000000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+mj-lt"/>
                        <a:buNone/>
                        <a:defRPr/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北美节点建设与切流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：完成北美节点上线及流量切换，配合国际站团队完成切流数据对比验证；针对国际站不支持降级至Dashstable的问题，完成兼容性改造，保障业务平滑过渡。</a:t>
                      </a:r>
                      <a:endParaRPr sz="800" i="0" u="none" strike="noStrike">
                        <a:solidFill>
                          <a:srgbClr val="000000"/>
                        </a:solidFill>
                        <a:latin typeface="微软雅黑"/>
                        <a:ea typeface="宋体" charset="0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后端访问链路优化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：将后端依赖服务访问方式统一升级为QSM+Service IP模式，目前已全量上线，提升了服务调用的稳定性与可维护性。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点播内网域名网关化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：完成点播内网域名向网关的迁移，并协同端侧完成域名替换升级。针对遗留的老版本兼容问题，已完成跨团队沟通对齐，计划于半年后正式下线。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国际站金丝雀对比能力重启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：完成直播与点播国际站的金丝雀对比能力运维及上线，为后续版本迭代提供可靠的数据验证支撑。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</a:tr>
              <a:tr h="1837690">
                <a:tc>
                  <a:txBody>
                    <a:bodyPr wrap="square" rtlCol="0">
                      <a:spAutoFit/>
                    </a:bodyPr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200"/>
                        </a:spcAft>
                        <a:defRPr/>
                      </a:pPr>
                      <a:r>
                        <a:rPr sz="1350" b="1">
                          <a:solidFill>
                            <a:srgbClr val="1F4E79"/>
                          </a:solidFill>
                          <a:latin typeface="微软雅黑"/>
                        </a:rPr>
                        <a:t>二、线上问题发现与应急响应能力提升</a:t>
                      </a:r>
                      <a:endParaRPr lang="en-US" sz="1350" b="0" i="0" u="none" strike="noStrike">
                        <a:solidFill>
                          <a:srgbClr val="000000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+mj-lt"/>
                        <a:buNone/>
                        <a:defRPr/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回归测试覆盖机制扩展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：实现仅MUS、DRM等依赖服务变更时也可自动触发回归测试，并支持灵活选择预发布、办公网或特定环境进行定向回测，提升测试效率与精准度。</a:t>
                      </a:r>
                      <a:endParaRPr sz="800" i="0" u="none" strike="noStrike">
                        <a:solidFill>
                          <a:srgbClr val="000000"/>
                        </a:solidFill>
                        <a:latin typeface="微软雅黑"/>
                        <a:ea typeface="宋体" charset="0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金丝雀小流量场景对比功能上线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：支持基于线上日志的条件检索及人工录入日志的对比分析，增强小流量场景下的问题定位能力。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固定Case拨测与告警机制建立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：协同测试团队完成各机房线上服务的定期拨测，并接入告警系统，实现故障主动发现。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用户反馈数据对接（乐客系统）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：完成乐客系统用户反馈数据接入，提升兜底故障发现能力，已上线Grafana可视化图表及监控看板，实现问题闭环追踪。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5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6"/>
          </p:nvPr>
        </p:nvSpPr>
        <p:spPr/>
        <p:txBody>
          <a:bodyPr/>
          <a:lstStyle/>
          <a:p/>
        </p:txBody>
      </p:sp>
      <p:sp>
        <p:nvSpPr>
          <p:cNvPr id="4" name="AutoShape 2"/>
          <p:cNvSpPr/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775" b="1" i="0" u="none" strike="noStrike">
                <a:solidFill>
                  <a:srgbClr val="0D0D0D"/>
                </a:solidFill>
                <a:latin typeface="微软雅黑"/>
              </a:rPr>
              <a:t>本季度工作贡献</a:t>
            </a:r>
            <a:endParaRPr lang="en-US" sz="2775" b="1" i="0" u="none" strike="noStrike">
              <a:solidFill>
                <a:srgbClr val="0D0D0D"/>
              </a:solidFill>
              <a:latin typeface="微软雅黑"/>
            </a:endParaRPr>
          </a:p>
        </p:txBody>
      </p:sp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251460" y="832485"/>
          <a:ext cx="8580755" cy="39763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08860"/>
                <a:gridCol w="6271895"/>
              </a:tblGrid>
              <a:tr h="300990"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微软雅黑"/>
                        </a:rPr>
                        <a:t>项目/工作</a:t>
                      </a:r>
                      <a:endParaRPr lang="en-US" sz="1100"/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微软雅黑"/>
                        </a:rPr>
                        <a:t>主要业绩贡献</a:t>
                      </a:r>
                      <a:endParaRPr lang="en-US" sz="1100"/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</a:tr>
              <a:tr h="1837690">
                <a:tc>
                  <a:txBody>
                    <a:bodyPr wrap="square" rtlCol="0">
                      <a:spAutoFit/>
                    </a:bodyPr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200"/>
                        </a:spcAft>
                        <a:defRPr/>
                      </a:pPr>
                      <a:r>
                        <a:rPr sz="1350" b="1">
                          <a:solidFill>
                            <a:srgbClr val="1F4E79"/>
                          </a:solidFill>
                          <a:latin typeface="微软雅黑"/>
                        </a:rPr>
                        <a:t>三、性能优化与极限压测验证</a:t>
                      </a:r>
                      <a:endParaRPr lang="en-US" sz="1350" b="0" i="0" u="none" strike="noStrike">
                        <a:solidFill>
                          <a:srgbClr val="000000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+mj-lt"/>
                        <a:buNone/>
                        <a:defRPr/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QSM+长连接性能对比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：点播极限QPS提升3%，彻底解决端口耗尽问题，低负载下平均耗时下降10%；直播付费节目场景性能提升50%。</a:t>
                      </a:r>
                      <a:endParaRPr sz="800" i="0" u="none" strike="noStrike">
                        <a:solidFill>
                          <a:srgbClr val="000000"/>
                        </a:solidFill>
                        <a:latin typeface="微软雅黑"/>
                        <a:ea typeface="宋体" charset="0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单机极限QPS压测与限流调优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：对主站及国际站的直播、点播服务完成新一轮单机极限压测，并基于压测结果动态调整线上限流阈值，保障高并发稳定性。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QSM改造收益验证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：改造后点播主站会员请求耗时下降约15%，用户体验显著提升。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</a:tr>
              <a:tr h="1837690">
                <a:tc>
                  <a:txBody>
                    <a:bodyPr wrap="square" rtlCol="0">
                      <a:spAutoFit/>
                    </a:bodyPr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200"/>
                        </a:spcAft>
                        <a:defRPr/>
                      </a:pPr>
                      <a:r>
                        <a:rPr sz="1350" b="1">
                          <a:solidFill>
                            <a:srgbClr val="1F4E79"/>
                          </a:solidFill>
                          <a:latin typeface="微软雅黑"/>
                        </a:rPr>
                        <a:t>四、云控体系持续演进</a:t>
                      </a:r>
                      <a:endParaRPr lang="en-US" sz="1350" b="0" i="0" u="none" strike="noStrike">
                        <a:solidFill>
                          <a:srgbClr val="000000"/>
                        </a:solidFill>
                        <a:latin typeface="微软雅黑"/>
                      </a:endParaRPr>
                    </a:p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350" b="1">
                          <a:solidFill>
                            <a:srgbClr val="1F4E79"/>
                          </a:solidFill>
                          <a:latin typeface="微软雅黑"/>
                        </a:rPr>
                        <a:t>配置中心Key扩容与迁移</a:t>
                      </a:r>
                      <a:endParaRPr sz="1350" b="1">
                        <a:solidFill>
                          <a:srgbClr val="1F4E79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+mj-lt"/>
                        <a:buNone/>
                        <a:defRPr/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新迁入配置中信key: 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O1配置（已完成迁移）；DRM版权方策略配置、直播建议清晰度配置（开发完毕，待迁移）。</a:t>
                      </a:r>
                      <a:endParaRPr sz="800" i="0" u="none" strike="noStrike">
                        <a:solidFill>
                          <a:srgbClr val="000000"/>
                        </a:solidFill>
                        <a:latin typeface="微软雅黑"/>
                        <a:ea typeface="宋体" charset="0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配置管理能力增强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：新增配置中心数据统一预览功能，并修复Lua代码对配置文件加载顺序与预期不一致的问题，提升配置变更的安全性与可追溯性。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2775" b="1" i="0" u="none" strike="noStrike">
                <a:solidFill>
                  <a:srgbClr val="0D0D0D"/>
                </a:solidFill>
                <a:latin typeface="微软雅黑"/>
              </a:rPr>
              <a:t>本季度工作贡献</a:t>
            </a:r>
            <a:endParaRPr lang="en-US" sz="2775" b="1" i="0" u="none" strike="noStrike">
              <a:solidFill>
                <a:srgbClr val="0D0D0D"/>
              </a:solidFill>
              <a:latin typeface="微软雅黑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51460" y="832485"/>
          <a:ext cx="8580755" cy="430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59965"/>
                <a:gridCol w="6320790"/>
              </a:tblGrid>
              <a:tr h="300990"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微软雅黑"/>
                        </a:rPr>
                        <a:t>项目/工作</a:t>
                      </a:r>
                      <a:endParaRPr lang="en-US" sz="1100"/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  <a:tc>
                  <a:txBody>
                    <a:bodyPr rtlCol="0">
                      <a:spAutoFit/>
                    </a:bodyPr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微软雅黑"/>
                        </a:rPr>
                        <a:t>主要业绩贡献</a:t>
                      </a:r>
                      <a:endParaRPr lang="en-US" sz="1100"/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BB59">
                        <a:alpha val="100000"/>
                      </a:srgbClr>
                    </a:solidFill>
                  </a:tcPr>
                </a:tc>
              </a:tr>
              <a:tr h="1327785">
                <a:tc>
                  <a:txBody>
                    <a:bodyPr wrap="square" rtlCol="0">
                      <a:spAutoFit/>
                    </a:bodyPr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200"/>
                        </a:spcAft>
                        <a:defRPr/>
                      </a:pPr>
                      <a:r>
                        <a:rPr sz="1350" b="1">
                          <a:solidFill>
                            <a:srgbClr val="1F4E79"/>
                          </a:solidFill>
                          <a:latin typeface="微软雅黑"/>
                        </a:rPr>
                        <a:t>五、常规工程改造与研发效能提升</a:t>
                      </a:r>
                      <a:endParaRPr sz="1350" b="0" i="0" u="none" strike="noStrike">
                        <a:solidFill>
                          <a:srgbClr val="000000"/>
                        </a:solidFill>
                        <a:latin typeface="微软雅黑"/>
                        <a:ea typeface="宋体" charset="0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Font typeface="+mj-lt"/>
                        <a:buNone/>
                        <a:defRPr/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发布看板与操作体验优化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：支持根据节假日、封版期智能判断下次发布时间；发布详情页自动关联发布信息并展示各阶段预计发布时间；自动发布模板编辑及任务关联实现界面化操作，替代原有JSON直接编辑，降低操作门槛与出错率。</a:t>
                      </a:r>
                      <a:endParaRPr sz="800" i="0" u="none" strike="noStrike">
                        <a:solidFill>
                          <a:srgbClr val="000000"/>
                        </a:solidFill>
                        <a:latin typeface="微软雅黑"/>
                        <a:ea typeface="宋体" charset="0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狂飙系统能力复用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：完成上线前需求收集、打Tag等功能接入，提升发布流程标准化水平。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直点播镜像构建优化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：将新迁移至配置中心的配置数据纳入镜像构建流程，确保环境一致性。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QSM长连接Upstream优化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：关闭Nginx默认“单次失败即置为不可用”的被动健康检查策略，减少因瞬时抖动导致的服务误判，提升链路稳定性。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重大直播保障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：圆满完成U17亚洲杯决赛（5月23日）及欧冠决赛（5月31日）直播保障任务，全程零故障、零卡顿，用户观看体验平稳。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</a:tr>
              <a:tr h="498475">
                <a:tc>
                  <a:txBody>
                    <a:bodyPr wrap="square" rtlCol="0">
                      <a:spAutoFit/>
                    </a:bodyPr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200"/>
                        </a:spcAft>
                        <a:defRPr/>
                      </a:pPr>
                      <a:r>
                        <a:rPr sz="1350" b="1">
                          <a:solidFill>
                            <a:srgbClr val="1F4E79"/>
                          </a:solidFill>
                          <a:latin typeface="微软雅黑"/>
                        </a:rPr>
                        <a:t>六、AI开发进阶及自动运维初步尝试</a:t>
                      </a:r>
                      <a:endParaRPr lang="en-US" sz="1100"/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defRPr/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命令行交互开发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：通过命令行交互方式实现直播和点播需求开发，支持历史记忆与二次修改。</a:t>
                      </a:r>
                      <a:endParaRPr lang="en-US" sz="1100"/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自动化部署与调试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：代码经星图能力自动部署；调试请求并自动总结原因。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发布流程自动化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：自动整理上线申请并打开浏览器自动填写表格。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sz="975" b="1">
                          <a:solidFill>
                            <a:srgbClr val="1F4E79"/>
                          </a:solidFill>
                          <a:latin typeface="微软雅黑"/>
                        </a:rPr>
                        <a:t>星图运维Agent探索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：支持单机部署、配置修改、自动调用Prometheus查询报表等，配套推进星图token访问（开发中）。</a:t>
                      </a:r>
                      <a:endParaRPr sz="975" b="0">
                        <a:solidFill>
                          <a:srgbClr val="333333"/>
                        </a:solidFill>
                        <a:latin typeface="微软雅黑"/>
                      </a:endParaRPr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</a:tr>
              <a:tr h="498475">
                <a:tc>
                  <a:txBody>
                    <a:bodyPr wrap="square" rtlCol="0">
                      <a:spAutoFit/>
                    </a:bodyPr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200"/>
                        </a:spcAft>
                        <a:defRPr/>
                      </a:pPr>
                      <a:r>
                        <a:rPr sz="1350" b="1">
                          <a:solidFill>
                            <a:srgbClr val="1F4E79"/>
                          </a:solidFill>
                          <a:latin typeface="微软雅黑"/>
                        </a:rPr>
                        <a:t>七、需求：快速支持业务需求开发及上线</a:t>
                      </a:r>
                      <a:endParaRPr lang="en-US" sz="1100"/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defRPr/>
                      </a:pP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本Q累计vrs共开发上线完毕</a:t>
                      </a:r>
                      <a:r>
                        <a:rPr lang="x-none" sz="975" b="0">
                          <a:solidFill>
                            <a:srgbClr val="333333"/>
                          </a:solidFill>
                          <a:latin typeface="微软雅黑"/>
                        </a:rPr>
                        <a:t>16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个业务需求(点播 </a:t>
                      </a:r>
                      <a:r>
                        <a:rPr lang="x-none" sz="975" b="0">
                          <a:solidFill>
                            <a:srgbClr val="333333"/>
                          </a:solidFill>
                          <a:latin typeface="微软雅黑"/>
                        </a:rPr>
                        <a:t>14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个，直播 </a:t>
                      </a:r>
                      <a:r>
                        <a:rPr lang="x-none" sz="975" b="0">
                          <a:solidFill>
                            <a:srgbClr val="333333"/>
                          </a:solidFill>
                          <a:latin typeface="微软雅黑"/>
                        </a:rPr>
                        <a:t>2</a:t>
                      </a:r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</a:rPr>
                        <a:t>个)</a:t>
                      </a:r>
                      <a:endParaRPr lang="en-US" sz="1100"/>
                    </a:p>
                  </a:txBody>
                  <a:tcPr marL="95250" marR="95250" marT="47625" marB="47625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D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xfrm>
            <a:off x="323528" y="277735"/>
            <a:ext cx="8424936" cy="493563"/>
          </a:xfrm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r>
              <a:rPr sz="2400" b="1">
                <a:latin typeface="微软雅黑"/>
              </a:rPr>
              <a:t>工作贡献1- 金丝雀</a:t>
            </a:r>
            <a:r>
              <a:rPr lang="zh-CN" sz="2400" b="1">
                <a:latin typeface="微软雅黑"/>
                <a:ea typeface="宋体" charset="0"/>
              </a:rPr>
              <a:t>新增加小流量场景和固定</a:t>
            </a:r>
            <a:r>
              <a:rPr lang="x-none" altLang="zh-CN" sz="2400" b="1">
                <a:latin typeface="微软雅黑"/>
                <a:ea typeface="宋体" charset="0"/>
              </a:rPr>
              <a:t>case</a:t>
            </a:r>
            <a:r>
              <a:rPr lang="zh-CN" altLang="x-none" sz="2400" b="1">
                <a:latin typeface="微软雅黑"/>
                <a:ea typeface="宋体" charset="0"/>
              </a:rPr>
              <a:t>对比</a:t>
            </a:r>
            <a:endParaRPr lang="zh-CN" altLang="x-none" sz="2400" b="1">
              <a:latin typeface="微软雅黑"/>
              <a:ea typeface="宋体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605" y="900000"/>
            <a:ext cx="83534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背景：本季度将金丝雀对比扩展为「产品对比 + 小流量场景 + 固定Case拨测」三层体系，覆盖全量发布、小流量场景及各机房拨测验证。</a:t>
            </a:r>
            <a:endParaRPr sz="1200" b="0">
              <a:solidFill>
                <a:srgbClr val="333333"/>
              </a:solidFill>
              <a:latin typeface="微软雅黑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" y="1614805"/>
            <a:ext cx="4665345" cy="24422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225" y="1597660"/>
            <a:ext cx="4116070" cy="2431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3215" y="4266565"/>
            <a:ext cx="3990340" cy="470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① 产品对比（已有）</a:t>
            </a:r>
            <a:endParaRPr sz="1200" b="1">
              <a:solidFill>
                <a:srgbClr val="1F4E79"/>
              </a:solidFill>
              <a:latin typeface="微软雅黑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</a:rPr>
              <a:t>直播/点播国际站全量流量对比，按版本环境持续验证</a:t>
            </a:r>
            <a:endParaRPr sz="1100" b="0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30638" y="4333650"/>
            <a:ext cx="4909494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微软雅黑"/>
              </a:rPr>
              <a:t>② 小流量场景对比（Q2新建）</a:t>
            </a:r>
            <a:endParaRPr sz="1200" b="1">
              <a:solidFill>
                <a:srgbClr val="1F4E79"/>
              </a:solidFill>
              <a:latin typeface="微软雅黑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</a:rPr>
              <a:t>Venus日志检索+人工录入，定时对比车机/TV等小流量场景</a:t>
            </a:r>
            <a:endParaRPr sz="1100" b="0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215" y="4667885"/>
            <a:ext cx="39903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zh-CN" sz="1100" b="0">
                <a:solidFill>
                  <a:srgbClr val="333333"/>
                </a:solidFill>
                <a:latin typeface="微软雅黑"/>
                <a:ea typeface="宋体" charset="0"/>
              </a:rPr>
              <a:t>改动：界面调优</a:t>
            </a:r>
            <a:endParaRPr sz="1100" b="0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xfrm>
            <a:off x="323528" y="277735"/>
            <a:ext cx="8424936" cy="493563"/>
          </a:xfrm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r>
              <a:rPr sz="2400" b="1">
                <a:latin typeface="微软雅黑"/>
              </a:rPr>
              <a:t>工作贡献1- </a:t>
            </a:r>
            <a:r>
              <a:rPr>
                <a:sym typeface="+mn-ea"/>
              </a:rPr>
              <a:t>金丝雀</a:t>
            </a:r>
            <a:r>
              <a:rPr lang="zh-CN">
                <a:ea typeface="宋体" charset="0"/>
                <a:sym typeface="+mn-ea"/>
              </a:rPr>
              <a:t>新增加小流量场景和固定</a:t>
            </a:r>
            <a:r>
              <a:rPr lang="x-none" altLang="zh-CN">
                <a:ea typeface="宋体" charset="0"/>
                <a:sym typeface="+mn-ea"/>
              </a:rPr>
              <a:t>case</a:t>
            </a:r>
            <a:r>
              <a:rPr lang="zh-CN" altLang="x-none">
                <a:ea typeface="宋体" charset="0"/>
                <a:sym typeface="+mn-ea"/>
              </a:rPr>
              <a:t>对比</a:t>
            </a:r>
            <a:endParaRPr sz="2400" b="1"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605" y="900000"/>
            <a:ext cx="835342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微软雅黑"/>
              </a:rPr>
              <a:t>③ 固定Case拨测对比（Q2新建）：协同测试团队完成</a:t>
            </a:r>
            <a:r>
              <a:rPr lang="zh-CN" sz="1200" b="0">
                <a:solidFill>
                  <a:srgbClr val="333333"/>
                </a:solidFill>
                <a:latin typeface="微软雅黑"/>
                <a:ea typeface="宋体" charset="0"/>
              </a:rPr>
              <a:t>定时对</a:t>
            </a:r>
            <a:r>
              <a:rPr sz="1200" b="0">
                <a:solidFill>
                  <a:srgbClr val="333333"/>
                </a:solidFill>
                <a:latin typeface="微软雅黑"/>
              </a:rPr>
              <a:t>各机房定期拨测</a:t>
            </a:r>
            <a:r>
              <a:rPr lang="zh-CN" sz="1200" b="0">
                <a:solidFill>
                  <a:srgbClr val="333333"/>
                </a:solidFill>
                <a:latin typeface="微软雅黑"/>
                <a:ea typeface="宋体" charset="0"/>
              </a:rPr>
              <a:t>及收集回调结果进行线上报警</a:t>
            </a:r>
            <a:endParaRPr lang="zh-CN" sz="1200" b="0">
              <a:solidFill>
                <a:srgbClr val="333333"/>
              </a:solidFill>
              <a:latin typeface="微软雅黑"/>
              <a:ea typeface="宋体" charset="0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320000"/>
            <a:ext cx="8353425" cy="30084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5605" y="4408483"/>
            <a:ext cx="835342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</a:rPr>
              <a:t>进度：固定Case拨测已覆盖主站及国际站各机房；告警对接发布系统（VIDEODEV-5812）推进中。</a:t>
            </a:r>
            <a:endParaRPr sz="1100" b="0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xfrm>
            <a:off x="323528" y="277735"/>
            <a:ext cx="8424936" cy="493563"/>
          </a:xfrm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r>
              <a:rPr sz="2400" b="1">
                <a:latin typeface="微软雅黑"/>
              </a:rPr>
              <a:t>工作贡献2- 乐客用户反馈数据对接</a:t>
            </a:r>
            <a:endParaRPr sz="2400" b="1">
              <a:latin typeface="微软雅黑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95605" y="900000"/>
            <a:ext cx="3600000" cy="3650000"/>
          </a:xfrm>
          <a:prstGeom prst="roundRect">
            <a:avLst/>
          </a:prstGeom>
          <a:solidFill>
            <a:srgbClr val="F7FAF4"/>
          </a:solidFill>
          <a:ln w="12700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605" y="960000"/>
            <a:ext cx="34400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F4E79"/>
                </a:solidFill>
                <a:latin typeface="微软雅黑"/>
              </a:rPr>
              <a:t>处理</a:t>
            </a:r>
            <a:r>
              <a:rPr lang="zh-CN" sz="1300" b="1">
                <a:solidFill>
                  <a:srgbClr val="1F4E79"/>
                </a:solidFill>
                <a:latin typeface="微软雅黑"/>
                <a:ea typeface="宋体" charset="0"/>
              </a:rPr>
              <a:t>流程</a:t>
            </a:r>
            <a:endParaRPr lang="zh-CN" sz="1300" b="1">
              <a:solidFill>
                <a:srgbClr val="1F4E79"/>
              </a:solidFill>
              <a:latin typeface="微软雅黑"/>
              <a:ea typeface="宋体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95605" y="1260000"/>
            <a:ext cx="2800000" cy="380000"/>
          </a:xfrm>
          <a:prstGeom prst="roundRect">
            <a:avLst/>
          </a:prstGeom>
          <a:solidFill>
            <a:srgbClr val="DEE7D1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50000" rtlCol="0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1. 收集反馈</a:t>
            </a:r>
            <a:endParaRPr sz="1000" b="0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5605" y="1820000"/>
            <a:ext cx="2800000" cy="380000"/>
          </a:xfrm>
          <a:prstGeom prst="roundRect">
            <a:avLst/>
          </a:prstGeom>
          <a:solidFill>
            <a:srgbClr val="DEE7D1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50000" rtlCol="0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2. 加载已有分类到 Prompt</a:t>
            </a:r>
            <a:endParaRPr sz="1000" b="0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95605" y="2380000"/>
            <a:ext cx="2800000" cy="3800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50000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微软雅黑"/>
              </a:rPr>
              <a:t>3. 分类 SubAgent
   对新反馈进行归类</a:t>
            </a:r>
            <a:endParaRPr sz="900" b="1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5605" y="2940000"/>
            <a:ext cx="2800000" cy="3800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50000" rtlCol="0" anchor="ctr"/>
          <a:lstStyle/>
          <a:p>
            <a:pPr algn="ctr"/>
            <a:r>
              <a:rPr sz="900" b="1">
                <a:solidFill>
                  <a:srgbClr val="1F4E79"/>
                </a:solidFill>
                <a:latin typeface="微软雅黑"/>
              </a:rPr>
              <a:t>4. 审核 SubAgent
   二次校验与修正</a:t>
            </a:r>
            <a:endParaRPr sz="900" b="1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95605" y="3500000"/>
            <a:ext cx="2800000" cy="380000"/>
          </a:xfrm>
          <a:prstGeom prst="roundRect">
            <a:avLst/>
          </a:prstGeom>
          <a:solidFill>
            <a:srgbClr val="DEE7D1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rIns="50000" rtlCol="0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5. 落库</a:t>
            </a:r>
            <a:endParaRPr sz="1000" b="0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2105605" y="1660000"/>
            <a:ext cx="180000" cy="140000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2105605" y="2220000"/>
            <a:ext cx="180000" cy="140000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2105605" y="2780000"/>
            <a:ext cx="180000" cy="140000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2105605" y="3340000"/>
            <a:ext cx="180000" cy="140000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5605" y="900000"/>
            <a:ext cx="4633425" cy="365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9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605" y="980000"/>
            <a:ext cx="4433425" cy="2617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</a:rPr>
              <a:t>背景与目标</a:t>
            </a:r>
            <a:endParaRPr sz="1300" b="1">
              <a:solidFill>
                <a:srgbClr val="1F4E79"/>
              </a:solidFill>
              <a:latin typeface="微软雅黑"/>
            </a:endParaRP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微软雅黑"/>
              </a:rPr>
              <a:t>对接乐客系统用户反馈，构建播放链路兜底故障发现能力，支持主站/国际站独立运行。</a:t>
            </a:r>
            <a:endParaRPr sz="1100" b="0">
              <a:solidFill>
                <a:srgbClr val="333333"/>
              </a:solidFill>
              <a:latin typeface="微软雅黑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</a:rPr>
              <a:t>核心优化手段</a:t>
            </a:r>
            <a:endParaRPr sz="1300" b="1">
              <a:solidFill>
                <a:srgbClr val="1F4E79"/>
              </a:solidFill>
              <a:latin typeface="微软雅黑"/>
            </a:endParaRP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  <a:latin typeface="微软雅黑"/>
              </a:rPr>
              <a:t>① 双 SubAgent 相互监督审核</a:t>
            </a:r>
            <a:endParaRPr sz="1100" b="1">
              <a:solidFill>
                <a:srgbClr val="C00000"/>
              </a:solidFill>
              <a:latin typeface="微软雅黑"/>
            </a:endParaRP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分类 SubAgent 负责初筛归类；审核 SubAgent 对结果二次校验、修正误分，两 Agent 协作形成监督闭环。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② 模型升级：DeepSeek-V3 + Qwen2.5-72B-Instruct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③ 精准过滤：聚焦视频播放 9 个二级分类 + 2 个黑名单；TOP20 关键分类增量报警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333333"/>
                </a:solidFill>
                <a:latin typeface="微软雅黑"/>
              </a:rPr>
              <a:t>④ 告警体系：1h/3h 增量阈值 + 同比昨日同期；Grafana 看板 + Hubble 报警</a:t>
            </a:r>
            <a:endParaRPr sz="1000" b="0">
              <a:solidFill>
                <a:srgbClr val="333333"/>
              </a:solidFill>
              <a:latin typeface="微软雅黑"/>
            </a:endParaRP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F4E79"/>
                </a:solidFill>
                <a:latin typeface="微软雅黑"/>
              </a:rPr>
              <a:t>效果展示及进度见下页。</a:t>
            </a:r>
            <a:endParaRPr sz="1100" b="1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605" y="4607445"/>
            <a:ext cx="8353425" cy="245110"/>
          </a:xfrm>
          <a:prstGeom prst="rect">
            <a:avLst/>
          </a:prstGeom>
          <a:noFill/>
        </p:spPr>
        <p:txBody>
          <a:bodyPr wrap="square" lIns="50000" rIns="5000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整体输出：归类结果落库后 → Grafana 可视化监控 + 星图反馈</a:t>
            </a:r>
            <a:r>
              <a:rPr lang="zh-CN" sz="1000" b="0">
                <a:solidFill>
                  <a:srgbClr val="333333"/>
                </a:solidFill>
                <a:latin typeface="微软雅黑"/>
                <a:ea typeface="宋体" charset="0"/>
              </a:rPr>
              <a:t>详情页</a:t>
            </a:r>
            <a:r>
              <a:rPr sz="1000" b="0">
                <a:solidFill>
                  <a:srgbClr val="333333"/>
                </a:solidFill>
                <a:latin typeface="微软雅黑"/>
              </a:rPr>
              <a:t>历史查询</a:t>
            </a:r>
            <a:endParaRPr sz="1000" b="0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ph type="body" sz="quarter" idx="5" hasCustomPrompt="1"/>
          </p:nvPr>
        </p:nvSpPr>
        <p:spPr>
          <a:xfrm>
            <a:off x="323528" y="277735"/>
            <a:ext cx="8424936" cy="493563"/>
          </a:xfrm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r>
              <a:rPr sz="2400" b="1">
                <a:latin typeface="微软雅黑"/>
              </a:rPr>
              <a:t>工作贡献2</a:t>
            </a:r>
            <a:r>
              <a:rPr lang="en-US" sz="2400" b="1">
                <a:latin typeface="微软雅黑"/>
              </a:rPr>
              <a:t> </a:t>
            </a:r>
            <a:r>
              <a:rPr sz="2400" b="1">
                <a:latin typeface="微软雅黑"/>
              </a:rPr>
              <a:t>- </a:t>
            </a:r>
            <a:r>
              <a:rPr>
                <a:sym typeface="+mn-ea"/>
              </a:rPr>
              <a:t>乐客用户反馈数据对接</a:t>
            </a:r>
            <a:r>
              <a:rPr sz="2400" b="1">
                <a:latin typeface="微软雅黑"/>
              </a:rPr>
              <a:t>效果展示</a:t>
            </a:r>
            <a:endParaRPr sz="2400" b="1"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605" y="820000"/>
            <a:ext cx="8353425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E79"/>
                </a:solidFill>
                <a:latin typeface="微软雅黑"/>
              </a:rPr>
              <a:t>效果展示：Grafana 监控看板、乐客反馈日志、二级分类维护</a:t>
            </a:r>
            <a:endParaRPr sz="1100" b="1">
              <a:solidFill>
                <a:srgbClr val="1F4E79"/>
              </a:solidFill>
              <a:latin typeface="微软雅黑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" y="1105535"/>
            <a:ext cx="4304030" cy="1828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870" y="3596640"/>
            <a:ext cx="5358130" cy="145351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905" y="1032510"/>
            <a:ext cx="5876290" cy="23456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0345" y="4193540"/>
            <a:ext cx="252158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/>
              </a:rPr>
              <a:t>进度：</a:t>
            </a:r>
            <a:r>
              <a:rPr lang="zh-CN" sz="1100">
                <a:solidFill>
                  <a:srgbClr val="333333"/>
                </a:solidFill>
                <a:latin typeface="微软雅黑"/>
                <a:ea typeface="宋体" charset="0"/>
              </a:rPr>
              <a:t>测试环境</a:t>
            </a:r>
            <a:r>
              <a:rPr sz="1100">
                <a:solidFill>
                  <a:srgbClr val="333333"/>
                </a:solidFill>
                <a:latin typeface="微软雅黑"/>
              </a:rPr>
              <a:t>稳定运行</a:t>
            </a:r>
            <a:r>
              <a:rPr lang="zh-CN" sz="1100">
                <a:solidFill>
                  <a:srgbClr val="333333"/>
                </a:solidFill>
                <a:latin typeface="微软雅黑"/>
                <a:ea typeface="宋体" charset="0"/>
              </a:rPr>
              <a:t>中</a:t>
            </a:r>
            <a:endParaRPr lang="zh-CN" sz="1100">
              <a:solidFill>
                <a:srgbClr val="333333"/>
              </a:solidFill>
              <a:latin typeface="微软雅黑"/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r>
              <a:rPr sz="2400" b="1">
                <a:latin typeface="微软雅黑"/>
              </a:rPr>
              <a:t>工作贡献3- 本季度业务需求</a:t>
            </a:r>
            <a:endParaRPr sz="2400" b="1"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605" y="820000"/>
            <a:ext cx="4300000" cy="39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1100" b="1">
                <a:solidFill>
                  <a:srgbClr val="1F4E79"/>
                </a:solidFill>
                <a:latin typeface="微软雅黑"/>
              </a:rPr>
              <a:t>重点业务需求：</a:t>
            </a:r>
            <a:endParaRPr sz="11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1">
                <a:solidFill>
                  <a:srgbClr val="1F4E79"/>
                </a:solidFill>
                <a:latin typeface="微软雅黑"/>
              </a:rPr>
              <a:t>一、非中心化</a:t>
            </a:r>
            <a:endParaRPr sz="8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1">
                <a:solidFill>
                  <a:srgbClr val="C00000"/>
                </a:solidFill>
                <a:latin typeface="微软雅黑"/>
              </a:rPr>
              <a:t>VIDEODEV-5729 - 【非中心化】解决无编目信息主态无法露出码流的问题</a:t>
            </a:r>
            <a:endParaRPr sz="750" b="1">
              <a:solidFill>
                <a:srgbClr val="C00000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1">
                <a:solidFill>
                  <a:srgbClr val="C00000"/>
                </a:solidFill>
                <a:latin typeface="微软雅黑"/>
              </a:rPr>
              <a:t>VIDEODEV-5756 - 【非中心化】支持下发云盘地址码流信息供短视频主态播放使用</a:t>
            </a:r>
            <a:endParaRPr sz="750" b="1">
              <a:solidFill>
                <a:srgbClr val="C00000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VIDEODEV-5748 - 码流选择优先级细节调整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1">
                <a:solidFill>
                  <a:srgbClr val="1F4E79"/>
                </a:solidFill>
                <a:latin typeface="微软雅黑"/>
              </a:rPr>
              <a:t>二、DRM</a:t>
            </a:r>
            <a:endParaRPr sz="8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VIDEODEV-5734 - 【DRM】迪士尼播控IOS端策略调整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VIDEODEV-5720 - 【DRM】Turpentine工具升级：IPTV场景DCID校验失败降级播放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1">
                <a:solidFill>
                  <a:srgbClr val="1F4E79"/>
                </a:solidFill>
                <a:latin typeface="微软雅黑"/>
              </a:rPr>
              <a:t>三、MUS / TV / IPTV / 生产</a:t>
            </a:r>
            <a:endParaRPr sz="8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VIDEODEV-5636 - 【MUS】AV1开播加速增加codec下发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VIDEODEV-5749 - TV 放开 SDR10bit 1080P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VIDEODEV-5780 - 【TV】支持屏蔽 4K_sdr10_inter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VIDEODEV-5716 - 【IPTV】运营商注入业务支持APK模式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VIDEODEV-5832 - nexguard水印方案下线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1">
                <a:solidFill>
                  <a:srgbClr val="1F4E79"/>
                </a:solidFill>
                <a:latin typeface="微软雅黑"/>
              </a:rPr>
              <a:t>四、PCW</a:t>
            </a:r>
            <a:endParaRPr sz="8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VIDEODEV-5746 - PCW 开播加速增加调度地址（已上线）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VIDEODEV-5747 - PCW 支持返回杜比音效（已上线）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1">
                <a:solidFill>
                  <a:srgbClr val="1F4E79"/>
                </a:solidFill>
                <a:latin typeface="微软雅黑"/>
              </a:rPr>
              <a:t>五、国际站</a:t>
            </a:r>
            <a:endParaRPr sz="8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1">
                <a:solidFill>
                  <a:srgbClr val="C00000"/>
                </a:solidFill>
                <a:latin typeface="微软雅黑"/>
              </a:rPr>
              <a:t>VIDEODEV-5821 - 【VRS】多音轨需求-提前获取音轨信息</a:t>
            </a:r>
            <a:endParaRPr sz="750" b="1">
              <a:solidFill>
                <a:srgbClr val="C00000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1">
                <a:solidFill>
                  <a:srgbClr val="C00000"/>
                </a:solidFill>
                <a:latin typeface="微软雅黑"/>
              </a:rPr>
              <a:t>VIDEODEV-5804 - 海外站-多音轨合并：支持起播策略及未更新音轨信息</a:t>
            </a:r>
            <a:endParaRPr sz="750" b="1">
              <a:solidFill>
                <a:srgbClr val="C00000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1">
                <a:solidFill>
                  <a:srgbClr val="1F4E79"/>
                </a:solidFill>
                <a:latin typeface="微软雅黑"/>
              </a:rPr>
              <a:t>六、直播</a:t>
            </a:r>
            <a:endParaRPr sz="8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VIDEODEV-5727 - 【直播】Mac端配置和PCA端对齐</a:t>
            </a:r>
            <a:endParaRPr sz="75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750" b="0">
                <a:solidFill>
                  <a:srgbClr val="333333"/>
                </a:solidFill>
                <a:latin typeface="微软雅黑"/>
              </a:rPr>
              <a:t>VIDEODEV-5744 - 【直播】海外直播后门方案的CDN体系参数传递</a:t>
            </a:r>
            <a:endParaRPr sz="750" b="0">
              <a:solidFill>
                <a:srgbClr val="333333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605" y="4780000"/>
            <a:ext cx="8353425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微软雅黑"/>
              </a:rPr>
              <a:t>本Q业务需求共计 16 项（点播 14 项，直播 2 项）</a:t>
            </a:r>
            <a:endParaRPr sz="1200" b="1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4632325" y="2780030"/>
            <a:ext cx="2651125" cy="721360"/>
          </a:xfrm>
          <a:prstGeom prst="wedgeRoundRectCallout">
            <a:avLst>
              <a:gd name="adj1" fmla="val -84419"/>
              <a:gd name="adj2" fmla="val 28521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marL="171450" indent="-171450" algn="l">
              <a:buFont typeface="Arial" panose="02080604020202020204" pitchFamily="34" charset="0"/>
              <a:buChar char="•"/>
            </a:pPr>
            <a:r>
              <a:rPr lang="en-US" sz="1000"/>
              <a:t>QPaas 单独部署专用集群（独立单元）</a:t>
            </a:r>
            <a:endParaRPr lang="en-US" sz="1000"/>
          </a:p>
          <a:p>
            <a:pPr marL="171450" indent="-171450" algn="l">
              <a:buFont typeface="Arial" panose="02080604020202020204" pitchFamily="34" charset="0"/>
              <a:buChar char="•"/>
            </a:pPr>
            <a:r>
              <a:rPr lang="zh-CN" altLang="en-US" sz="1000"/>
              <a:t>接入网关</a:t>
            </a:r>
            <a:r>
              <a:rPr lang="x-none" altLang="zh-CN" sz="1000"/>
              <a:t>+</a:t>
            </a:r>
            <a:r>
              <a:rPr lang="zh-CN" altLang="en-US" sz="1000"/>
              <a:t>分流</a:t>
            </a:r>
            <a:endParaRPr lang="zh-CN" altLang="en-US" sz="10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r>
              <a:rPr sz="2400" b="1">
                <a:latin typeface="微软雅黑"/>
              </a:rPr>
              <a:t>VRS故障（线上播放相关）</a:t>
            </a:r>
            <a:endParaRPr sz="2400" b="1"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605" y="820000"/>
            <a:ext cx="8353425" cy="276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00" b="1">
                <a:solidFill>
                  <a:srgbClr val="1F4E79"/>
                </a:solidFill>
                <a:latin typeface="微软雅黑"/>
              </a:rPr>
              <a:t>4月23日 — 国际站网关非法 x-real-ip</a:t>
            </a:r>
            <a:endParaRPr sz="9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现象：st-1500 报警</a:t>
            </a: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临时解决：网关回退升级</a:t>
            </a: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5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长期：dash/live 对非法 IP 不再使用，并增加监控报警（VIDEODEV-5776 相关）</a:t>
            </a: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500"/>
              </a:spcAft>
            </a:pP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00" b="1">
                <a:solidFill>
                  <a:srgbClr val="1F4E79"/>
                </a:solidFill>
                <a:latin typeface="微软雅黑"/>
              </a:rPr>
              <a:t>5月11日 — 国际站 QSM 网格加入后鉴权失败</a:t>
            </a:r>
            <a:endParaRPr sz="9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现象：付费视频鉴权 st-800，最高错误率 0.16%（未触发报警）</a:t>
            </a: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原因：QSM 给 80 端口出请求加 2KB header，与用户 header 合计超 8KB，会员 nginx 返回 400</a:t>
            </a: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5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影响：配置上线因此阻塞，待乐客反馈接入后再启动 QSM 全量</a:t>
            </a: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500"/>
              </a:spcAft>
            </a:pP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00" b="1">
                <a:solidFill>
                  <a:srgbClr val="1F4E79"/>
                </a:solidFill>
                <a:latin typeface="微软雅黑"/>
              </a:rPr>
              <a:t>会员鉴权 no live upstreams</a:t>
            </a:r>
            <a:endParaRPr sz="9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现象：排查 st-800 时发现 dash 请求会员报 no live upstreams</a:t>
            </a: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1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原因：qsm upstream max_fails 默认 1</a:t>
            </a: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5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解决：VIDEODEV-5820 设置 max_fails=0 → 已上线</a:t>
            </a: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500"/>
              </a:spcAft>
            </a:pPr>
            <a:endParaRPr sz="800" b="0">
              <a:solidFill>
                <a:srgbClr val="333333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900" b="1">
                <a:solidFill>
                  <a:srgbClr val="1F4E79"/>
                </a:solidFill>
                <a:latin typeface="微软雅黑"/>
              </a:rPr>
              <a:t>【20260428】国际站无 4K 码流露出故障</a:t>
            </a:r>
            <a:endParaRPr sz="900" b="1">
              <a:solidFill>
                <a:srgbClr val="1F4E79"/>
              </a:solidFill>
              <a:latin typeface="微软雅黑"/>
            </a:endParaRPr>
          </a:p>
          <a:p>
            <a:pPr>
              <a:lnSpc>
                <a:spcPct val="98000"/>
              </a:lnSpc>
              <a:spcAft>
                <a:spcPts val="200"/>
              </a:spcAft>
            </a:pPr>
            <a:r>
              <a:rPr sz="800" b="0">
                <a:solidFill>
                  <a:srgbClr val="333333"/>
                </a:solidFill>
                <a:latin typeface="微软雅黑"/>
              </a:rPr>
              <a:t>原因：上线操作执行不完整，有步骤缺失</a:t>
            </a:r>
            <a:endParaRPr sz="800" b="0">
              <a:solidFill>
                <a:srgbClr val="333333"/>
              </a:solidFill>
              <a:latin typeface="微软雅黑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x-none" altLang="en-US" sz="2775" b="1" i="0" u="none" strike="noStrike">
                <a:solidFill>
                  <a:srgbClr val="262626"/>
                </a:solidFill>
                <a:latin typeface="微软雅黑"/>
              </a:rPr>
              <a:t>cursor</a:t>
            </a:r>
            <a:r>
              <a:rPr lang="en-US" sz="2775" b="1" i="0" u="none" strike="noStrike">
                <a:solidFill>
                  <a:srgbClr val="262626"/>
                </a:solidFill>
                <a:latin typeface="微软雅黑"/>
              </a:rPr>
              <a:t>编程</a:t>
            </a:r>
            <a:endParaRPr lang="en-US" sz="2775" b="1" i="0" u="none" strike="noStrike">
              <a:solidFill>
                <a:srgbClr val="262626"/>
              </a:solidFill>
              <a:latin typeface="微软雅黑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25" y="1016000"/>
            <a:ext cx="6823075" cy="35020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01015" y="4532630"/>
            <a:ext cx="47739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1000"/>
              <a:t>q2</a:t>
            </a:r>
            <a:r>
              <a:rPr lang="zh-CN" altLang="x-none" sz="1000">
                <a:ea typeface="宋体" charset="0"/>
              </a:rPr>
              <a:t>基本全是</a:t>
            </a:r>
            <a:r>
              <a:rPr lang="x-none" altLang="zh-CN" sz="1000">
                <a:ea typeface="宋体" charset="0"/>
              </a:rPr>
              <a:t>ai</a:t>
            </a:r>
            <a:r>
              <a:rPr lang="zh-CN" altLang="x-none" sz="1000">
                <a:ea typeface="宋体" charset="0"/>
              </a:rPr>
              <a:t>写的代码，上面统计不准，原因如下：</a:t>
            </a:r>
            <a:endParaRPr lang="zh-CN" altLang="x-none" sz="1000">
              <a:ea typeface="宋体" charset="0"/>
            </a:endParaRPr>
          </a:p>
          <a:p>
            <a:r>
              <a:rPr lang="x-none" altLang="zh-CN" sz="1000">
                <a:ea typeface="宋体" charset="0"/>
              </a:rPr>
              <a:t>1. ubuntu</a:t>
            </a:r>
            <a:r>
              <a:rPr lang="zh-CN" altLang="x-none" sz="1000">
                <a:ea typeface="宋体" charset="0"/>
              </a:rPr>
              <a:t>系统插件对</a:t>
            </a:r>
            <a:r>
              <a:rPr lang="x-none" altLang="zh-CN" sz="1000">
                <a:ea typeface="宋体" charset="0"/>
              </a:rPr>
              <a:t>codex claude</a:t>
            </a:r>
            <a:r>
              <a:rPr lang="zh-CN" altLang="x-none" sz="1000">
                <a:ea typeface="宋体" charset="0"/>
              </a:rPr>
              <a:t>的</a:t>
            </a:r>
            <a:r>
              <a:rPr lang="x-none" altLang="zh-CN" sz="1000">
                <a:ea typeface="宋体" charset="0"/>
              </a:rPr>
              <a:t>cli </a:t>
            </a:r>
            <a:r>
              <a:rPr lang="zh-CN" altLang="x-none" sz="1000">
                <a:ea typeface="宋体" charset="0"/>
              </a:rPr>
              <a:t>不生效</a:t>
            </a:r>
            <a:endParaRPr lang="zh-CN" altLang="x-none" sz="1000">
              <a:ea typeface="宋体" charset="0"/>
            </a:endParaRPr>
          </a:p>
          <a:p>
            <a:r>
              <a:rPr lang="en-US" altLang="zh-CN" sz="1000">
                <a:ea typeface="宋体" charset="0"/>
              </a:rPr>
              <a:t>2.</a:t>
            </a:r>
            <a:r>
              <a:rPr lang="x-none" altLang="en-US" sz="1000">
                <a:ea typeface="宋体" charset="0"/>
              </a:rPr>
              <a:t> cursor-agent (cli) </a:t>
            </a:r>
            <a:r>
              <a:rPr lang="zh-CN" altLang="x-none" sz="1000">
                <a:ea typeface="宋体" charset="0"/>
              </a:rPr>
              <a:t>插件不支持</a:t>
            </a:r>
            <a:endParaRPr lang="zh-CN" altLang="x-none" sz="1000">
              <a:ea typeface="宋体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3333"/>
                </a:solidFill>
              </a:rPr>
              <a:t>AI自动化开发运维流程</a:t>
            </a:r>
            <a:endParaRPr sz="2400" b="1">
              <a:solidFill>
                <a:srgbClr val="3333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605" y="1054315"/>
            <a:ext cx="8353425" cy="414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</a:rPr>
              <a:t>背景：本季度探索将 Cursor/Codex</a:t>
            </a:r>
            <a:r>
              <a:rPr lang="x-none" sz="1050">
                <a:solidFill>
                  <a:srgbClr val="333333"/>
                </a:solidFill>
                <a:sym typeface="+mn-ea"/>
              </a:rPr>
              <a:t>/cursor-agent</a:t>
            </a:r>
            <a:r>
              <a:rPr sz="1050" b="0">
                <a:solidFill>
                  <a:srgbClr val="333333"/>
                </a:solidFill>
              </a:rPr>
              <a:t> 命令行交互开发与星图运维 Agent 串联，形成「开发→部署联调→问题分析→上线申请」闭环，降低重复劳动、缩短需求交付周期。</a:t>
            </a:r>
            <a:endParaRPr sz="1050" b="0">
              <a:solidFill>
                <a:srgbClr val="333333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95605" y="1894360"/>
            <a:ext cx="1750000" cy="65000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</a:rPr>
              <a:t>① 代码开发</a:t>
            </a:r>
            <a:br>
              <a:rPr sz="1100" b="1">
                <a:solidFill>
                  <a:srgbClr val="1F4E79"/>
                </a:solidFill>
              </a:rPr>
            </a:br>
            <a:r>
              <a:rPr sz="1100" b="1">
                <a:solidFill>
                  <a:srgbClr val="1F4E79"/>
                </a:solidFill>
              </a:rPr>
              <a:t>Cursor/Codex CLI</a:t>
            </a:r>
            <a:endParaRPr sz="1100" b="1">
              <a:solidFill>
                <a:srgbClr val="1F4E79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205605" y="2074360"/>
            <a:ext cx="180000" cy="280000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45605" y="1894360"/>
            <a:ext cx="1750000" cy="65000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</a:rPr>
              <a:t>② 星图部署</a:t>
            </a:r>
            <a:br>
              <a:rPr sz="1100" b="1">
                <a:solidFill>
                  <a:srgbClr val="1F4E79"/>
                </a:solidFill>
              </a:rPr>
            </a:br>
            <a:r>
              <a:rPr sz="1100" b="1">
                <a:solidFill>
                  <a:srgbClr val="1F4E79"/>
                </a:solidFill>
              </a:rPr>
              <a:t>联调环境</a:t>
            </a:r>
            <a:endParaRPr sz="1100" b="1">
              <a:solidFill>
                <a:srgbClr val="1F4E79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255605" y="2074360"/>
            <a:ext cx="180000" cy="280000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95605" y="1894360"/>
            <a:ext cx="1750000" cy="65000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</a:rPr>
              <a:t>③ AI问题分析</a:t>
            </a:r>
            <a:br>
              <a:rPr sz="1100" b="1">
                <a:solidFill>
                  <a:srgbClr val="1F4E79"/>
                </a:solidFill>
              </a:rPr>
            </a:br>
            <a:r>
              <a:rPr sz="1100" b="1">
                <a:solidFill>
                  <a:srgbClr val="1F4E79"/>
                </a:solidFill>
              </a:rPr>
              <a:t>日志调试总结</a:t>
            </a:r>
            <a:endParaRPr sz="1100" b="1">
              <a:solidFill>
                <a:srgbClr val="1F4E79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305605" y="2074360"/>
            <a:ext cx="180000" cy="280000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45605" y="1894360"/>
            <a:ext cx="1750000" cy="65000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E79"/>
                </a:solidFill>
              </a:rPr>
              <a:t>④ 上线申请</a:t>
            </a:r>
            <a:br>
              <a:rPr sz="1100" b="1">
                <a:solidFill>
                  <a:srgbClr val="1F4E79"/>
                </a:solidFill>
              </a:rPr>
            </a:br>
            <a:r>
              <a:rPr sz="1100" b="1">
                <a:solidFill>
                  <a:srgbClr val="1F4E79"/>
                </a:solidFill>
              </a:rPr>
              <a:t>浏览器自动填表</a:t>
            </a:r>
            <a:endParaRPr sz="1100" b="1">
              <a:solidFill>
                <a:srgbClr val="1F4E7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6730" y="3196950"/>
            <a:ext cx="410000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命令行交互开发：直播/点播需求开发，</a:t>
            </a:r>
            <a:r>
              <a:rPr sz="1000" b="1">
                <a:solidFill>
                  <a:srgbClr val="333333"/>
                </a:solidFill>
              </a:rPr>
              <a:t>支持历史记忆与二次修改</a:t>
            </a:r>
            <a:endParaRPr sz="10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自动化部署与调试：代码经星图</a:t>
            </a:r>
            <a:r>
              <a:rPr sz="1000" b="1">
                <a:solidFill>
                  <a:srgbClr val="333333"/>
                </a:solidFill>
              </a:rPr>
              <a:t>自动部署</a:t>
            </a:r>
            <a:r>
              <a:rPr lang="zh-CN" sz="1000" b="1">
                <a:solidFill>
                  <a:srgbClr val="333333"/>
                </a:solidFill>
                <a:ea typeface="宋体" charset="0"/>
              </a:rPr>
              <a:t>到联调环境</a:t>
            </a:r>
            <a:r>
              <a:rPr sz="1000">
                <a:solidFill>
                  <a:srgbClr val="333333"/>
                </a:solidFill>
              </a:rPr>
              <a:t>，</a:t>
            </a:r>
            <a:r>
              <a:rPr sz="1000" b="1">
                <a:solidFill>
                  <a:srgbClr val="333333"/>
                </a:solidFill>
              </a:rPr>
              <a:t>调试请求并自动总结原因</a:t>
            </a:r>
            <a:endParaRPr sz="1000" b="1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发布流程自动化：</a:t>
            </a:r>
            <a:r>
              <a:rPr sz="1000" b="1">
                <a:solidFill>
                  <a:srgbClr val="333333"/>
                </a:solidFill>
              </a:rPr>
              <a:t>自动整理上线申请，打开浏览器自动填写表格</a:t>
            </a:r>
            <a:endParaRPr sz="100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333333"/>
                </a:solidFill>
              </a:rPr>
              <a:t>星图运维 Agent：单机部署、配置修改、Prometheus 查询</a:t>
            </a:r>
            <a:r>
              <a:rPr lang="zh-CN" sz="1000">
                <a:solidFill>
                  <a:srgbClr val="333333"/>
                </a:solidFill>
                <a:ea typeface="宋体" charset="0"/>
              </a:rPr>
              <a:t>等</a:t>
            </a:r>
            <a:endParaRPr lang="zh-CN" sz="1000">
              <a:solidFill>
                <a:srgbClr val="333333"/>
              </a:solidFill>
              <a:ea typeface="宋体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3333"/>
                </a:solidFill>
                <a:sym typeface="+mn-ea"/>
              </a:rPr>
              <a:t>AI自动化开发运维流程</a:t>
            </a:r>
            <a:r>
              <a:rPr sz="2400" b="1">
                <a:solidFill>
                  <a:srgbClr val="333333"/>
                </a:solidFill>
              </a:rPr>
              <a:t> - ① dash代码开发</a:t>
            </a:r>
            <a:endParaRPr sz="2400" b="1">
              <a:solidFill>
                <a:srgbClr val="3333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605" y="1008595"/>
            <a:ext cx="8353425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通过 Cursor/Codex</a:t>
            </a:r>
            <a:r>
              <a:rPr lang="x-none" sz="1000" b="0">
                <a:solidFill>
                  <a:srgbClr val="333333"/>
                </a:solidFill>
              </a:rPr>
              <a:t>/cursor-agent</a:t>
            </a:r>
            <a:r>
              <a:rPr sz="1000" b="0">
                <a:solidFill>
                  <a:srgbClr val="333333"/>
                </a:solidFill>
              </a:rPr>
              <a:t> 命令行交互完成 dash 需求开发：读取 AGENTS.md 与需求文档，生成代码并支持多轮修改。</a:t>
            </a:r>
            <a:endParaRPr sz="1000" b="0">
              <a:solidFill>
                <a:srgbClr val="333333"/>
              </a:solidFill>
            </a:endParaRPr>
          </a:p>
        </p:txBody>
      </p:sp>
      <p:pic>
        <p:nvPicPr>
          <p:cNvPr id="4" name="Picture 3" descr="auto-flow-1-dev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490774"/>
            <a:ext cx="8353425" cy="3401952"/>
          </a:xfrm>
          <a:prstGeom prst="rect">
            <a:avLst/>
          </a:prstGeom>
        </p:spPr>
      </p:pic>
      <p:pic>
        <p:nvPicPr>
          <p:cNvPr id="5" name="Picture 4" descr="auto-flow-1-dev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869" y="1360000"/>
            <a:ext cx="6344897" cy="3663500"/>
          </a:xfrm>
          <a:prstGeom prst="rect">
            <a:avLst/>
          </a:prstGeom>
        </p:spPr>
      </p:pic>
      <p:pic>
        <p:nvPicPr>
          <p:cNvPr id="6" name="Picture 5" descr="auto-flow-1-dev-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7921" y="1360000"/>
            <a:ext cx="5208792" cy="3663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589" y="1360000"/>
            <a:ext cx="5695457" cy="366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8119"/>
            <a:ext cx="7886700" cy="994172"/>
          </a:xfrm>
        </p:spPr>
        <p:txBody>
          <a:bodyPr/>
          <a:lstStyle/>
          <a:p>
            <a:r>
              <a:rPr sz="2400" b="1">
                <a:solidFill>
                  <a:srgbClr val="333333"/>
                </a:solidFill>
                <a:sym typeface="+mn-ea"/>
              </a:rPr>
              <a:t>AI自动化开发运维流程</a:t>
            </a:r>
            <a:r>
              <a:rPr sz="2400" b="1">
                <a:solidFill>
                  <a:srgbClr val="333333"/>
                </a:solidFill>
              </a:rPr>
              <a:t> - ② dash部署到联调环境</a:t>
            </a:r>
            <a:endParaRPr sz="2400" b="1">
              <a:solidFill>
                <a:srgbClr val="3333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605" y="820000"/>
            <a:ext cx="8353425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代码提交后，通过星图 Agent 自动构建并部署到联调环境，支持环境选择与部署状态跟踪。</a:t>
            </a:r>
            <a:endParaRPr sz="1000" b="0">
              <a:solidFill>
                <a:srgbClr val="333333"/>
              </a:solidFill>
            </a:endParaRPr>
          </a:p>
        </p:txBody>
      </p:sp>
      <p:pic>
        <p:nvPicPr>
          <p:cNvPr id="4" name="Picture 3" descr="auto-flow-1-dev-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472575"/>
            <a:ext cx="8353425" cy="3438349"/>
          </a:xfrm>
          <a:prstGeom prst="rect">
            <a:avLst/>
          </a:prstGeom>
        </p:spPr>
      </p:pic>
      <p:pic>
        <p:nvPicPr>
          <p:cNvPr id="5" name="Picture 4" descr="auto-flow-2-deploy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404" y="1360000"/>
            <a:ext cx="4649826" cy="3663500"/>
          </a:xfrm>
          <a:prstGeom prst="rect">
            <a:avLst/>
          </a:prstGeom>
        </p:spPr>
      </p:pic>
      <p:pic>
        <p:nvPicPr>
          <p:cNvPr id="6" name="Picture 5" descr="auto-flow-2-deploy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935" y="1360000"/>
            <a:ext cx="4806764" cy="3663500"/>
          </a:xfrm>
          <a:prstGeom prst="rect">
            <a:avLst/>
          </a:prstGeom>
        </p:spPr>
      </p:pic>
      <p:pic>
        <p:nvPicPr>
          <p:cNvPr id="7" name="Picture 6" descr="auto-flow-2-deploy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942" y="1360000"/>
            <a:ext cx="4196750" cy="366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3333"/>
                </a:solidFill>
                <a:sym typeface="+mn-ea"/>
              </a:rPr>
              <a:t>AI自动化开发运维流程</a:t>
            </a:r>
            <a:r>
              <a:rPr sz="2400" b="1">
                <a:solidFill>
                  <a:srgbClr val="333333"/>
                </a:solidFill>
              </a:rPr>
              <a:t> - ③ dash问题分析</a:t>
            </a:r>
            <a:endParaRPr sz="2400" b="1">
              <a:solidFill>
                <a:srgbClr val="3333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605" y="820000"/>
            <a:ext cx="8353425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联调异常时，Agent 自动拉取日志、分析请求链路并输出根因总结，辅助快速定位问题。</a:t>
            </a:r>
            <a:endParaRPr sz="1000" b="0">
              <a:solidFill>
                <a:srgbClr val="333333"/>
              </a:solidFill>
            </a:endParaRPr>
          </a:p>
        </p:txBody>
      </p:sp>
      <p:pic>
        <p:nvPicPr>
          <p:cNvPr id="4" name="Picture 3" descr="auto-flow-3-analysis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535" y="1360000"/>
            <a:ext cx="7645565" cy="3663499"/>
          </a:xfrm>
          <a:prstGeom prst="rect">
            <a:avLst/>
          </a:prstGeom>
        </p:spPr>
      </p:pic>
      <p:pic>
        <p:nvPicPr>
          <p:cNvPr id="5" name="Picture 4" descr="auto-flow-3-analysi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2195940"/>
            <a:ext cx="8353425" cy="1991620"/>
          </a:xfrm>
          <a:prstGeom prst="rect">
            <a:avLst/>
          </a:prstGeom>
        </p:spPr>
      </p:pic>
      <p:pic>
        <p:nvPicPr>
          <p:cNvPr id="6" name="Picture 5" descr="auto-flow-3-analysis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08" y="1360000"/>
            <a:ext cx="4536218" cy="3663500"/>
          </a:xfrm>
          <a:prstGeom prst="rect">
            <a:avLst/>
          </a:prstGeom>
        </p:spPr>
      </p:pic>
      <p:pic>
        <p:nvPicPr>
          <p:cNvPr id="7" name="Picture 6" descr="auto-flow-3-analysis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81" y="1360000"/>
            <a:ext cx="7681272" cy="3663500"/>
          </a:xfrm>
          <a:prstGeom prst="rect">
            <a:avLst/>
          </a:prstGeom>
        </p:spPr>
      </p:pic>
      <p:pic>
        <p:nvPicPr>
          <p:cNvPr id="8" name="Picture 7" descr="auto-flow-3-analysis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94" y="1360000"/>
            <a:ext cx="7927847" cy="36634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3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3333"/>
                </a:solidFill>
                <a:sym typeface="+mn-ea"/>
              </a:rPr>
              <a:t>AI自动化开发运维流程</a:t>
            </a:r>
            <a:r>
              <a:rPr sz="2400" b="1">
                <a:solidFill>
                  <a:srgbClr val="333333"/>
                </a:solidFill>
              </a:rPr>
              <a:t> - ④ 上线申请自动化</a:t>
            </a:r>
            <a:endParaRPr sz="2400" b="1">
              <a:solidFill>
                <a:srgbClr val="33333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605" y="820000"/>
            <a:ext cx="8353425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发布前自动整理变更说明与影响范围，打开浏览器自动填写上线申请表单，减少手工录入与遗漏。</a:t>
            </a:r>
            <a:endParaRPr sz="1000" b="0">
              <a:solidFill>
                <a:srgbClr val="333333"/>
              </a:solidFill>
            </a:endParaRPr>
          </a:p>
        </p:txBody>
      </p:sp>
      <p:pic>
        <p:nvPicPr>
          <p:cNvPr id="4" name="Picture 3" descr="auto-flow-4-launch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814" y="1360000"/>
            <a:ext cx="5857006" cy="3663500"/>
          </a:xfrm>
          <a:prstGeom prst="rect">
            <a:avLst/>
          </a:prstGeom>
        </p:spPr>
      </p:pic>
      <p:pic>
        <p:nvPicPr>
          <p:cNvPr id="5" name="Picture 4" descr="auto-flow-4-launch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038" y="1360000"/>
            <a:ext cx="5426559" cy="3663500"/>
          </a:xfrm>
          <a:prstGeom prst="rect">
            <a:avLst/>
          </a:prstGeom>
        </p:spPr>
      </p:pic>
      <p:pic>
        <p:nvPicPr>
          <p:cNvPr id="6" name="Picture 5" descr="auto-flow-4-laun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" y="2662589"/>
            <a:ext cx="8353425" cy="1058322"/>
          </a:xfrm>
          <a:prstGeom prst="rect">
            <a:avLst/>
          </a:prstGeom>
        </p:spPr>
      </p:pic>
      <p:pic>
        <p:nvPicPr>
          <p:cNvPr id="7" name="Picture 6" descr="auto-flow-4-launch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848" y="1360000"/>
            <a:ext cx="4820938" cy="3663500"/>
          </a:xfrm>
          <a:prstGeom prst="rect">
            <a:avLst/>
          </a:prstGeom>
        </p:spPr>
      </p:pic>
      <p:pic>
        <p:nvPicPr>
          <p:cNvPr id="8" name="Picture 7" descr="auto-flow-4-launch-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6009" y="1360000"/>
            <a:ext cx="5732616" cy="366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3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3528" y="843558"/>
            <a:ext cx="8424936" cy="2584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95250" tIns="47625" rIns="95250" bIns="47625" rtlCol="0" anchor="t">
            <a:noAutofit/>
          </a:bodyPr>
          <a:lstStyle/>
          <a:p>
            <a:pPr marL="0" indent="152400" algn="l">
              <a:lnSpc>
                <a:spcPct val="150000"/>
              </a:lnSpc>
              <a:spcAft>
                <a:spcPts val="200"/>
              </a:spcAft>
              <a:buClr>
                <a:srgbClr val="000000"/>
              </a:buClr>
              <a:buChar char="•"/>
            </a:pPr>
            <a:r>
              <a:rPr sz="1200" b="1">
                <a:solidFill>
                  <a:srgbClr val="1F4E79"/>
                </a:solidFill>
              </a:rPr>
              <a:t>一、稳定性与质量保障</a:t>
            </a:r>
            <a:endParaRPr lang="zh-CN" sz="1200" b="0" i="0" u="none" strike="noStrike">
              <a:solidFill>
                <a:srgbClr val="000000"/>
              </a:solidFill>
              <a:latin typeface="微软雅黑"/>
              <a:ea typeface="宋体" charset="0"/>
            </a:endParaRP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金丝雀体系：固定Case拨测失败阻塞发布流程上线（5812）；恢复dashstable主站对比；持续扩展小流量场景覆盖</a:t>
            </a:r>
            <a:endParaRPr sz="1200">
              <a:solidFill>
                <a:srgbClr val="333333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乐客用户反馈：页面迁移至狂飙（5826）；关联运维事件单；Grafana告警参数调优，强化兜底故障发现</a:t>
            </a:r>
            <a:endParaRPr sz="1200">
              <a:solidFill>
                <a:srgbClr val="333333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回归测试与拨测：衔接TV/PHA端本地码流选择逻辑的客户端拨测；各机房定期拨测告警机制持续优化</a:t>
            </a:r>
            <a:endParaRPr sz="1200">
              <a:solidFill>
                <a:srgbClr val="333333"/>
              </a:solidFill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</a:rPr>
              <a:t>二、架构改造与工程效能</a:t>
            </a:r>
            <a:endParaRPr sz="1200" b="1">
              <a:solidFill>
                <a:srgbClr val="1F4E79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• 配置中心：qcp/乐高预览环境支持新配置数据（5788）；DRM版权策略、直播清晰度等配置迁移收尾</a:t>
            </a:r>
            <a:endParaRPr sz="1200">
              <a:solidFill>
                <a:srgbClr val="333333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发布与回滚：狂飙打Tag功能完善（5768）；虚机/QCE专用镜像急速回滚能力建设</a:t>
            </a:r>
            <a:endParaRPr sz="1200">
              <a:solidFill>
                <a:srgbClr val="333333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老服务独立部署：直播老代码、点播非Dash接口流量逐步切离</a:t>
            </a:r>
            <a:endParaRPr sz="1200">
              <a:solidFill>
                <a:srgbClr val="333333"/>
              </a:solidFill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</a:rPr>
              <a:t>三、AI开发进阶与自动运维</a:t>
            </a:r>
            <a:endParaRPr sz="1200" b="1">
              <a:solidFill>
                <a:srgbClr val="1F4E79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星图运维Agent：token访问能力落地（5837）；单机部署、配置修改、Prometheus查询等产品化</a:t>
            </a:r>
            <a:endParaRPr sz="1200">
              <a:solidFill>
                <a:srgbClr val="333333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AI自动化开发运维流程：开发→星图部署联调→问题分析→上线申请全链路打磨，提升交付效率</a:t>
            </a:r>
            <a:endParaRPr sz="1200">
              <a:solidFill>
                <a:srgbClr val="333333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探索巡检报警AI自动分析与故障辅助定位</a:t>
            </a:r>
            <a:endParaRPr sz="1200">
              <a:solidFill>
                <a:srgbClr val="333333"/>
              </a:solidFill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200"/>
              </a:spcAft>
            </a:pPr>
            <a:endParaRPr sz="1200">
              <a:solidFill>
                <a:srgbClr val="333333"/>
              </a:solidFill>
            </a:endParaRPr>
          </a:p>
        </p:txBody>
      </p:sp>
      <p:sp>
        <p:nvSpPr>
          <p:cNvPr id="3" name="AutoShape 3"/>
          <p:cNvSpPr/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lIns="95250" tIns="47625" rIns="95250" bIns="47625" anchor="t">
            <a:noAutofit/>
          </a:bodyPr>
          <a:lstStyle>
            <a:lvl1pPr algn="l">
              <a:lnSpc>
                <a:spcPct val="100000"/>
              </a:lnSpc>
              <a:defRPr sz="2700" b="1" i="0" u="none" strike="noStrike">
                <a:solidFill>
                  <a:srgbClr val="0D0D0D">
                    <a:alpha val="100000"/>
                  </a:srgbClr>
                </a:solidFill>
                <a:latin typeface="微软雅黑"/>
              </a:defRPr>
            </a:lvl1pPr>
          </a:lstStyle>
          <a:p>
            <a:r>
              <a:rPr sz="2800" b="1">
                <a:solidFill>
                  <a:srgbClr val="0D0D0D"/>
                </a:solidFill>
              </a:rPr>
              <a:t>未来规划 – 工作方面</a:t>
            </a:r>
            <a:endParaRPr sz="2800" b="1">
              <a:solidFill>
                <a:srgbClr val="0D0D0D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4740</Words>
  <Application>WPS Presentation</Application>
  <PresentationFormat/>
  <Paragraphs>235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Arial</vt:lpstr>
      <vt:lpstr>Nimbus Roman No9 L</vt:lpstr>
      <vt:lpstr>微软雅黑</vt:lpstr>
      <vt:lpstr>Droid Sans Fallback</vt:lpstr>
      <vt:lpstr>Calibri</vt:lpstr>
      <vt:lpstr>DejaVu Sans</vt:lpstr>
      <vt:lpstr>宋体</vt:lpstr>
      <vt:lpstr>微软雅黑</vt:lpstr>
      <vt:lpstr>Arial Unicode MS</vt:lpstr>
      <vt:lpstr>AR PL UKai CN</vt:lpstr>
      <vt:lpstr>OpenSymbol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AI自动化开发运维流程</vt:lpstr>
      <vt:lpstr>AI自动化开发运维流程 - ① dash代码开发</vt:lpstr>
      <vt:lpstr>AI自动化开发运维流程 - ② dash部署到联调环境</vt:lpstr>
      <vt:lpstr>AI自动化开发运维流程 - ③ dash问题分析</vt:lpstr>
      <vt:lpstr>AI自动化开发运维流程 - ④ 上线申请自动化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fan</cp:lastModifiedBy>
  <cp:revision>317</cp:revision>
  <dcterms:created xsi:type="dcterms:W3CDTF">2026-07-01T11:22:54Z</dcterms:created>
  <dcterms:modified xsi:type="dcterms:W3CDTF">2026-07-01T11:22:54Z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